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🔐 Secure Login &amp; Authentication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255" y="3429000"/>
            <a:ext cx="3477234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rPr sz="3200" dirty="0"/>
              <a:t>Personal Project</a:t>
            </a:r>
            <a:endParaRPr lang="en-US" sz="3200" dirty="0"/>
          </a:p>
          <a:p>
            <a:pPr algn="r">
              <a:defRPr sz="2400">
                <a:solidFill>
                  <a:srgbClr val="FFFFFF"/>
                </a:solidFill>
              </a:defRPr>
            </a:pPr>
            <a:r>
              <a:rPr lang="en-US" sz="3200" dirty="0"/>
              <a:t>113598101</a:t>
            </a:r>
            <a:r>
              <a:rPr lang="zh-TW" altLang="en-US" sz="3200" dirty="0"/>
              <a:t>  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康紘郡</a:t>
            </a:r>
            <a:endParaRPr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DCDCFF"/>
                </a:solidFill>
              </a:defRPr>
            </a:pPr>
            <a:r>
              <a:rPr dirty="0"/>
              <a:t>Technical Stack: Python 3.11 | </a:t>
            </a:r>
            <a:r>
              <a:rPr dirty="0" err="1"/>
              <a:t>Tkinter</a:t>
            </a:r>
            <a:r>
              <a:rPr dirty="0"/>
              <a:t>/</a:t>
            </a:r>
            <a:r>
              <a:rPr dirty="0" err="1"/>
              <a:t>CustomTkinter</a:t>
            </a:r>
            <a:r>
              <a:rPr dirty="0"/>
              <a:t> GUI | SQLite | PBKDF2 + TOTP 2FA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System Interface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55555"/>
                </a:solidFill>
              </a:defRPr>
            </a:pPr>
            <a:r>
              <a:t>Application Screenshots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6220"/>
            <a:ext cx="2560320" cy="1196340"/>
          </a:xfrm>
          <a:prstGeom prst="roundRect">
            <a:avLst/>
          </a:prstGeom>
          <a:solidFill>
            <a:srgbClr val="F0F0FA"/>
          </a:solidFill>
          <a:ln w="25400">
            <a:solidFill>
              <a:srgbClr val="667EEA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19100"/>
            <a:ext cx="2377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7EEA"/>
                </a:solidFill>
              </a:defRPr>
            </a:pPr>
            <a:r>
              <a:rPr sz="2000" dirty="0"/>
              <a:t>🏠 Main Menu</a:t>
            </a:r>
          </a:p>
          <a:p>
            <a:pPr algn="ctr">
              <a:defRPr sz="1100">
                <a:solidFill>
                  <a:srgbClr val="555555"/>
                </a:solidFill>
              </a:defRPr>
            </a:pPr>
            <a:r>
              <a:rPr sz="1400" dirty="0"/>
              <a:t>Landing page with</a:t>
            </a:r>
            <a:br>
              <a:rPr sz="1400" dirty="0"/>
            </a:br>
            <a:r>
              <a:rPr sz="1400" dirty="0"/>
              <a:t>Register</a:t>
            </a:r>
            <a:r>
              <a:rPr lang="zh-TW" altLang="en-US" sz="1400" dirty="0"/>
              <a:t> </a:t>
            </a:r>
            <a:r>
              <a:rPr sz="1400" dirty="0"/>
              <a:t>/</a:t>
            </a:r>
            <a:r>
              <a:rPr lang="zh-TW" altLang="en-US" sz="1400" dirty="0"/>
              <a:t> </a:t>
            </a:r>
            <a:r>
              <a:rPr sz="1400" dirty="0"/>
              <a:t>Login options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36220"/>
            <a:ext cx="2560320" cy="1195200"/>
          </a:xfrm>
          <a:prstGeom prst="roundRect">
            <a:avLst/>
          </a:prstGeom>
          <a:solidFill>
            <a:srgbClr val="F0F0FA"/>
          </a:solidFill>
          <a:ln w="25400">
            <a:solidFill>
              <a:srgbClr val="667EEA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1915290"/>
            <a:ext cx="24688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7EEA"/>
                </a:solidFill>
              </a:defRPr>
            </a:pPr>
            <a:r>
              <a:rPr sz="2000" dirty="0"/>
              <a:t>📝 Registration Form</a:t>
            </a:r>
          </a:p>
          <a:p>
            <a:pPr algn="ctr">
              <a:defRPr sz="1100">
                <a:solidFill>
                  <a:srgbClr val="555555"/>
                </a:solidFill>
              </a:defRPr>
            </a:pPr>
            <a:r>
              <a:rPr sz="1400" dirty="0"/>
              <a:t>User registration with</a:t>
            </a:r>
            <a:br>
              <a:rPr sz="1400" dirty="0"/>
            </a:br>
            <a:r>
              <a:rPr sz="1400" dirty="0"/>
              <a:t>password confirmation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6220"/>
            <a:ext cx="2560320" cy="1195200"/>
          </a:xfrm>
          <a:prstGeom prst="roundRect">
            <a:avLst/>
          </a:prstGeom>
          <a:solidFill>
            <a:srgbClr val="F0F0FA"/>
          </a:solidFill>
          <a:ln w="25400">
            <a:solidFill>
              <a:srgbClr val="667EEA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919100"/>
            <a:ext cx="2697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7EEA"/>
                </a:solidFill>
              </a:defRPr>
            </a:pPr>
            <a:r>
              <a:rPr sz="2000" dirty="0"/>
              <a:t>🔑 TOTP Secret Display</a:t>
            </a:r>
          </a:p>
          <a:p>
            <a:pPr algn="ctr">
              <a:defRPr sz="1100">
                <a:solidFill>
                  <a:srgbClr val="555555"/>
                </a:solidFill>
              </a:defRPr>
            </a:pPr>
            <a:r>
              <a:rPr sz="1400" dirty="0"/>
              <a:t>Base32 secret for</a:t>
            </a:r>
            <a:br>
              <a:rPr sz="1400" dirty="0"/>
            </a:br>
            <a:r>
              <a:rPr sz="1400" dirty="0"/>
              <a:t>authenticator app setup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1736220"/>
            <a:ext cx="2560320" cy="1195200"/>
          </a:xfrm>
          <a:prstGeom prst="roundRect">
            <a:avLst/>
          </a:prstGeom>
          <a:solidFill>
            <a:srgbClr val="F0F0FA"/>
          </a:solidFill>
          <a:ln w="25400">
            <a:solidFill>
              <a:srgbClr val="667EEA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06840" y="1919100"/>
            <a:ext cx="2377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7EEA"/>
                </a:solidFill>
              </a:defRPr>
            </a:pPr>
            <a:r>
              <a:rPr sz="2000" dirty="0"/>
              <a:t>🔓 Login Form</a:t>
            </a:r>
          </a:p>
          <a:p>
            <a:pPr algn="ctr">
              <a:defRPr sz="1100">
                <a:solidFill>
                  <a:srgbClr val="555555"/>
                </a:solidFill>
              </a:defRPr>
            </a:pPr>
            <a:r>
              <a:rPr sz="1400" dirty="0"/>
              <a:t>Username, password,</a:t>
            </a:r>
            <a:br>
              <a:rPr sz="1400" dirty="0"/>
            </a:br>
            <a:r>
              <a:rPr sz="1400" dirty="0"/>
              <a:t>and TOTP code input</a:t>
            </a: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E427B0BE-F18B-3B7F-44E3-7E0F90AC0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15440"/>
            <a:ext cx="2560320" cy="2458316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F5CFC561-F4A3-8024-15E6-85726B706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110490"/>
            <a:ext cx="2560320" cy="2458316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3BFDD0E6-4CB9-4450-DD97-DBCBE0680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920" y="3110490"/>
            <a:ext cx="2559600" cy="2235856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AEDE5905-9DA5-4D76-5D4E-475554538C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3110490"/>
            <a:ext cx="2560320" cy="24583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System Architecture &amp;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914400"/>
          </a:xfrm>
          <a:prstGeom prst="roundRect">
            <a:avLst/>
          </a:prstGeom>
          <a:solidFill>
            <a:srgbClr val="FAFAFF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7837" y="1552694"/>
            <a:ext cx="301685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60361"/>
            <a:ext cx="1005840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555555"/>
                </a:solidFill>
              </a:defRPr>
            </a:pPr>
            <a:r>
              <a:rPr dirty="0"/>
              <a:t>User Interface Layer (app.py)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rPr sz="1400" dirty="0"/>
              <a:t>GUI handles registration/login operations with input validation and error handling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11277295" cy="914400"/>
          </a:xfrm>
          <a:prstGeom prst="roundRect">
            <a:avLst/>
          </a:prstGeom>
          <a:solidFill>
            <a:srgbClr val="FAFAFF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837" y="2604254"/>
            <a:ext cx="301685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11921"/>
            <a:ext cx="1005840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555555"/>
                </a:solidFill>
              </a:defRPr>
            </a:pPr>
            <a:r>
              <a:rPr dirty="0"/>
              <a:t>Cryptography Layer (crypto.py)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rPr sz="1400" dirty="0"/>
              <a:t>PBKDF2-HMAC-SHA256 password hashing, random salt generation, TOTP token generation/verification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79"/>
            <a:ext cx="11277295" cy="914400"/>
          </a:xfrm>
          <a:prstGeom prst="roundRect">
            <a:avLst/>
          </a:prstGeom>
          <a:solidFill>
            <a:srgbClr val="FAFAFF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3611879"/>
            <a:ext cx="457200" cy="45720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37" y="3655813"/>
            <a:ext cx="301685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63481"/>
            <a:ext cx="1005840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555555"/>
                </a:solidFill>
              </a:defRPr>
            </a:pPr>
            <a:r>
              <a:rPr dirty="0"/>
              <a:t>Database Layer (database.py)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rPr sz="1400" dirty="0"/>
              <a:t>SQLite parameterized queries, secure pragma settings, SQL injection prevention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34840"/>
            <a:ext cx="11277295" cy="914400"/>
          </a:xfrm>
          <a:prstGeom prst="roundRect">
            <a:avLst/>
          </a:prstGeom>
          <a:solidFill>
            <a:srgbClr val="FAFAFF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7837" y="4707374"/>
            <a:ext cx="301685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615040"/>
            <a:ext cx="1005840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555555"/>
                </a:solidFill>
              </a:defRPr>
            </a:pPr>
            <a:r>
              <a:rPr dirty="0"/>
              <a:t>Testing Layer (test.py)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rPr sz="1400" dirty="0"/>
              <a:t>Colored output test framework covering hashing, MFA, SQL injection, and XSS protection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86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55555"/>
                </a:solidFill>
              </a:defRPr>
            </a:pPr>
            <a:r>
              <a:t>Data Storage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52160"/>
            <a:ext cx="10972800" cy="94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</a:defRPr>
            </a:pPr>
            <a:r>
              <a:rPr dirty="0"/>
              <a:t>▸ </a:t>
            </a:r>
            <a:r>
              <a:rPr b="1" dirty="0" err="1"/>
              <a:t>auth.db</a:t>
            </a:r>
            <a:r>
              <a:rPr dirty="0"/>
              <a:t> - SQLite database file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</a:defRPr>
            </a:pPr>
            <a:r>
              <a:rPr dirty="0"/>
              <a:t>▸ Stored fields: username, hashed credentials, TOTP secret, creation timestamp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</a:defRPr>
            </a:pPr>
            <a:r>
              <a:rPr dirty="0"/>
              <a:t>▸ All sensitive data encrypted, no plaintext password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Security Measures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657600" cy="2286000"/>
          </a:xfrm>
          <a:prstGeom prst="roundRect">
            <a:avLst/>
          </a:prstGeom>
          <a:solidFill>
            <a:srgbClr val="F5F7FF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89701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rPr sz="2400" dirty="0"/>
              <a:t>🔒 Password Hashing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80160"/>
            <a:ext cx="3657600" cy="2286000"/>
          </a:xfrm>
          <a:prstGeom prst="roundRect">
            <a:avLst/>
          </a:prstGeom>
          <a:solidFill>
            <a:srgbClr val="F5F7FF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34840" y="1489702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rPr sz="2400" dirty="0"/>
              <a:t>📱 Two-Factor Auth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280160"/>
            <a:ext cx="3657600" cy="2286000"/>
          </a:xfrm>
          <a:prstGeom prst="roundRect">
            <a:avLst/>
          </a:prstGeom>
          <a:solidFill>
            <a:srgbClr val="F5F7FF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1484620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rPr sz="2400" dirty="0"/>
              <a:t>🛡️ </a:t>
            </a:r>
            <a:r>
              <a:rPr sz="2000" dirty="0"/>
              <a:t>SQL Injection Prevention</a:t>
            </a:r>
            <a:endParaRPr lang="zh-TW" altLang="en-US" sz="2000" dirty="0"/>
          </a:p>
        </p:txBody>
      </p:sp>
      <p:sp>
        <p:nvSpPr>
          <p:cNvPr id="10" name="Rounded Rectangle 9"/>
          <p:cNvSpPr/>
          <p:nvPr/>
        </p:nvSpPr>
        <p:spPr>
          <a:xfrm>
            <a:off x="457200" y="3840479"/>
            <a:ext cx="3657600" cy="2286000"/>
          </a:xfrm>
          <a:prstGeom prst="roundRect">
            <a:avLst/>
          </a:prstGeom>
          <a:solidFill>
            <a:srgbClr val="F5F7FF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4049078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rPr sz="2400" dirty="0"/>
              <a:t>🚫 XSS Protection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840479"/>
            <a:ext cx="3657600" cy="2286000"/>
          </a:xfrm>
          <a:prstGeom prst="roundRect">
            <a:avLst/>
          </a:prstGeom>
          <a:solidFill>
            <a:srgbClr val="F5F7FF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4049078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rPr sz="2400" dirty="0"/>
              <a:t>🔑 Secret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840479"/>
            <a:ext cx="3657600" cy="2286000"/>
          </a:xfrm>
          <a:prstGeom prst="roundRect">
            <a:avLst/>
          </a:prstGeom>
          <a:solidFill>
            <a:srgbClr val="F5F7FF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4049077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rPr sz="2400" dirty="0"/>
              <a:t>✅ Input Validation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6462DE5-7E08-FB35-D199-58066CBD31D4}"/>
              </a:ext>
            </a:extLst>
          </p:cNvPr>
          <p:cNvSpPr txBox="1"/>
          <p:nvPr/>
        </p:nvSpPr>
        <p:spPr>
          <a:xfrm>
            <a:off x="934489" y="2080648"/>
            <a:ext cx="27030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PBKDF2-HMAC-SHA256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16-byte random salt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120,000 iterations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Constant-time comparison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AF1AA29-F390-C7EE-F3AF-78CD9777402F}"/>
              </a:ext>
            </a:extLst>
          </p:cNvPr>
          <p:cNvSpPr txBox="1"/>
          <p:nvPr/>
        </p:nvSpPr>
        <p:spPr>
          <a:xfrm>
            <a:off x="4783282" y="2080648"/>
            <a:ext cx="26863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RFC 6238 TOTP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6-digit dynamic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30-second refresh interval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±1 time window tolerance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BDF34A7-73A6-BC36-C07A-1DEC601E08AB}"/>
              </a:ext>
            </a:extLst>
          </p:cNvPr>
          <p:cNvSpPr txBox="1"/>
          <p:nvPr/>
        </p:nvSpPr>
        <p:spPr>
          <a:xfrm>
            <a:off x="8415020" y="2090290"/>
            <a:ext cx="31038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Parameterized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SQLite URI restricted mode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Full use of prepared statements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Zero string interpolation risk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1486BF1-3DDF-292F-A0E3-1C1637185316}"/>
              </a:ext>
            </a:extLst>
          </p:cNvPr>
          <p:cNvSpPr txBox="1"/>
          <p:nvPr/>
        </p:nvSpPr>
        <p:spPr>
          <a:xfrm>
            <a:off x="855864" y="4654747"/>
            <a:ext cx="28602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Input Validation &amp; Encoding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Strict input format checking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Database-level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Script injection prevention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AC09470-1AE8-8A0D-6818-62BE2591B36F}"/>
              </a:ext>
            </a:extLst>
          </p:cNvPr>
          <p:cNvSpPr txBox="1"/>
          <p:nvPr/>
        </p:nvSpPr>
        <p:spPr>
          <a:xfrm>
            <a:off x="4815687" y="4654747"/>
            <a:ext cx="25603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Secure Key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TOTP secret shown once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Passwords not logged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Base32 encoded storage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ED94B47-E8CD-AE1D-7F04-BF86F50056B8}"/>
              </a:ext>
            </a:extLst>
          </p:cNvPr>
          <p:cNvSpPr txBox="1"/>
          <p:nvPr/>
        </p:nvSpPr>
        <p:spPr>
          <a:xfrm>
            <a:off x="8473287" y="4654747"/>
            <a:ext cx="31391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Multi-layer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Username non-empty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Password length ≥ 8 chars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TOTP numeric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Testing &amp;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55555"/>
                </a:solidFill>
              </a:defRPr>
            </a:pPr>
            <a:r>
              <a:rPr dirty="0"/>
              <a:t>Test Suite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9190"/>
            <a:ext cx="3068537" cy="317837"/>
          </a:xfrm>
          <a:prstGeom prst="roundRect">
            <a:avLst/>
          </a:prstGeom>
          <a:solidFill>
            <a:srgbClr val="F8F9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29191"/>
            <a:ext cx="2977097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D63384"/>
                </a:solidFill>
                <a:latin typeface="Courier New"/>
              </a:defRPr>
            </a:pPr>
            <a:r>
              <a:rPr b="1" dirty="0"/>
              <a:t>python</a:t>
            </a:r>
            <a:r>
              <a:rPr dirty="0"/>
              <a:t> -m </a:t>
            </a:r>
            <a:r>
              <a:rPr dirty="0" err="1"/>
              <a:t>auth_system.test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2129908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55555"/>
                </a:solidFill>
              </a:defRPr>
            </a:pPr>
            <a:r>
              <a:rPr dirty="0"/>
              <a:t>Test Coverage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5486400" cy="109728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801183"/>
            <a:ext cx="521208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rPr dirty="0"/>
              <a:t>✓ </a:t>
            </a:r>
            <a:r>
              <a:rPr sz="2000" dirty="0"/>
              <a:t>Password Hashing Test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rPr sz="1400" dirty="0"/>
              <a:t>PBKDF2 hash generation and verification correctness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560320"/>
            <a:ext cx="5486400" cy="109728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2801183"/>
            <a:ext cx="521208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rPr sz="2000" dirty="0"/>
              <a:t>✓ MFA Functionality Test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rPr sz="1400" dirty="0"/>
              <a:t>TOTP generation, verification, and time window tolerance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79"/>
            <a:ext cx="5486400" cy="109728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4081343"/>
            <a:ext cx="521208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rPr sz="2000" dirty="0"/>
              <a:t>✓ End-to-End Flow Test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rPr sz="1400" dirty="0"/>
              <a:t>Complete registration/login flow with isolated database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840479"/>
            <a:ext cx="5486400" cy="109728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4081343"/>
            <a:ext cx="521208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rPr sz="2000" dirty="0"/>
              <a:t>✓ SQL Injection Test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rPr sz="1400" dirty="0"/>
              <a:t>Malicious query attempts safely handled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120640"/>
            <a:ext cx="5486400" cy="109728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5361504"/>
            <a:ext cx="521208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rPr sz="2000" dirty="0"/>
              <a:t>✓ XSS Protection Test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rPr sz="1400" dirty="0"/>
              <a:t>Script injection payloads properly sanitized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5120640"/>
            <a:ext cx="5486400" cy="109728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5361504"/>
            <a:ext cx="521208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rPr sz="2000" dirty="0"/>
              <a:t>✓ Colored Output Report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rPr sz="1400" dirty="0"/>
              <a:t>Visual test results with execution time statistics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Database Security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55555"/>
                </a:solidFill>
              </a:defRPr>
            </a:pPr>
            <a:r>
              <a:rPr dirty="0"/>
              <a:t>Database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1277295" cy="2286000"/>
          </a:xfrm>
          <a:prstGeom prst="roundRect">
            <a:avLst/>
          </a:prstGeom>
          <a:solidFill>
            <a:srgbClr val="F0F0FA"/>
          </a:solidFill>
          <a:ln w="25400">
            <a:solidFill>
              <a:srgbClr val="667EEA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67EEA"/>
                </a:solidFill>
              </a:defRPr>
            </a:pPr>
            <a:r>
              <a:rPr dirty="0"/>
              <a:t>🗄️ SQLite Database View</a:t>
            </a:r>
          </a:p>
          <a:p>
            <a:pPr algn="ctr">
              <a:defRPr sz="1400">
                <a:solidFill>
                  <a:srgbClr val="555555"/>
                </a:solidFill>
              </a:defRPr>
            </a:pPr>
            <a:r>
              <a:rPr dirty="0"/>
              <a:t>Screenshot showing hashed credentials and encrypted TOTP secrets in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55555"/>
                </a:solidFill>
              </a:defRPr>
            </a:pPr>
            <a:r>
              <a:t>Manual Verification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109728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rPr dirty="0"/>
              <a:t>▸ Attempt login with wrong password/OTP - system correctly rejects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rPr dirty="0"/>
              <a:t>▸ Check </a:t>
            </a:r>
            <a:r>
              <a:rPr b="1" dirty="0" err="1"/>
              <a:t>auth.db</a:t>
            </a:r>
            <a:r>
              <a:rPr dirty="0"/>
              <a:t> - credentials and secrets are hashed, no plaintext storage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rPr dirty="0"/>
              <a:t>▸ Verify log files - no sensitive information leakage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rPr dirty="0"/>
              <a:t>▸ Test TOTP time window tolerance - mechanism works correctly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FA8DAE83-B5A8-A5A1-3C2B-57F134841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31821"/>
            <a:ext cx="11277295" cy="12094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Security Extension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51472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67EEA"/>
                </a:solidFill>
              </a:defRPr>
            </a:pPr>
            <a:r>
              <a:rPr dirty="0"/>
              <a:t>🗄️ Database Upgrade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rPr lang="en-US" altLang="zh-TW" dirty="0"/>
              <a:t>	</a:t>
            </a:r>
            <a:r>
              <a:rPr lang="zh-TW" altLang="en-US" sz="1600" dirty="0"/>
              <a:t>▸ </a:t>
            </a:r>
            <a:r>
              <a:rPr sz="1600" dirty="0"/>
              <a:t>Migrate to </a:t>
            </a:r>
            <a:r>
              <a:rPr sz="1600" b="1" dirty="0"/>
              <a:t>PostgreSQL</a:t>
            </a:r>
            <a:r>
              <a:rPr lang="zh-TW" altLang="en-US" sz="1600" b="1" dirty="0"/>
              <a:t> </a:t>
            </a:r>
            <a:r>
              <a:rPr sz="1600" b="1" dirty="0"/>
              <a:t>/</a:t>
            </a:r>
            <a:r>
              <a:rPr lang="zh-TW" altLang="en-US" sz="1600" b="1" dirty="0"/>
              <a:t> </a:t>
            </a:r>
            <a:r>
              <a:rPr sz="1600" b="1" dirty="0"/>
              <a:t>MySQL</a:t>
            </a:r>
            <a:endParaRPr lang="en-US" sz="1600" b="1" dirty="0"/>
          </a:p>
          <a:p>
            <a:pPr>
              <a:defRPr sz="1400">
                <a:solidFill>
                  <a:srgbClr val="555555"/>
                </a:solidFill>
              </a:defRPr>
            </a:pPr>
            <a:r>
              <a:rPr lang="en-US" sz="1600" dirty="0"/>
              <a:t>	</a:t>
            </a:r>
            <a:r>
              <a:rPr lang="zh-TW" altLang="en-US" sz="1600" dirty="0"/>
              <a:t>▸ </a:t>
            </a:r>
            <a:r>
              <a:rPr lang="en-US" altLang="zh-TW" sz="1600" dirty="0"/>
              <a:t>I</a:t>
            </a:r>
            <a:r>
              <a:rPr sz="1600" dirty="0"/>
              <a:t>mplement least-privilege roles</a:t>
            </a:r>
            <a:endParaRPr lang="en-US" sz="1600" dirty="0"/>
          </a:p>
          <a:p>
            <a:pPr>
              <a:defRPr sz="1400">
                <a:solidFill>
                  <a:srgbClr val="555555"/>
                </a:solidFill>
              </a:defRPr>
            </a:pPr>
            <a:r>
              <a:rPr lang="en-US" altLang="zh-TW" sz="1600" dirty="0"/>
              <a:t>	</a:t>
            </a:r>
            <a:r>
              <a:rPr lang="zh-TW" altLang="en-US" sz="1600" dirty="0"/>
              <a:t>▸ </a:t>
            </a:r>
            <a:r>
              <a:rPr lang="en-US" altLang="zh-TW" sz="1600" dirty="0"/>
              <a:t>C</a:t>
            </a:r>
            <a:r>
              <a:rPr sz="1600" dirty="0"/>
              <a:t>ontinue parameterized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99" y="2874398"/>
            <a:ext cx="664845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67EEA"/>
                </a:solidFill>
              </a:defRPr>
            </a:pPr>
            <a:r>
              <a:rPr dirty="0"/>
              <a:t>🔐 Enhanced Authentication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rPr lang="en-US" dirty="0"/>
              <a:t>	</a:t>
            </a:r>
            <a:r>
              <a:rPr lang="zh-TW" altLang="en-US" sz="1600" dirty="0"/>
              <a:t>▸ </a:t>
            </a:r>
            <a:r>
              <a:rPr lang="en-US" sz="1600" dirty="0"/>
              <a:t>Add</a:t>
            </a:r>
            <a:r>
              <a:rPr lang="en-US" sz="1600" b="1" dirty="0"/>
              <a:t> account lockout mechanism </a:t>
            </a:r>
            <a:r>
              <a:rPr lang="en-US" sz="1600" dirty="0"/>
              <a:t>with exponential backoff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rPr lang="en-US" sz="1600" dirty="0"/>
              <a:t>	</a:t>
            </a:r>
            <a:r>
              <a:rPr lang="en-US" altLang="zh-TW" sz="1600" dirty="0"/>
              <a:t>▸ Implement failed login attempt counter to prevent brute force attacks</a:t>
            </a:r>
            <a:endParaRPr lang="en-US" sz="1600" dirty="0"/>
          </a:p>
          <a:p>
            <a:pPr>
              <a:defRPr sz="1400">
                <a:solidFill>
                  <a:srgbClr val="555555"/>
                </a:solidFill>
              </a:defRPr>
            </a:pPr>
            <a:r>
              <a:rPr lang="en-US" altLang="zh-TW" sz="1600" dirty="0"/>
              <a:t>	</a:t>
            </a:r>
            <a:r>
              <a:rPr lang="zh-TW" altLang="en-US" sz="1600" dirty="0"/>
              <a:t>▸ </a:t>
            </a:r>
            <a:r>
              <a:rPr lang="en-US" altLang="zh-TW" sz="1600" b="1" dirty="0"/>
              <a:t>B</a:t>
            </a:r>
            <a:r>
              <a:rPr sz="1600" b="1" dirty="0"/>
              <a:t>ackup recovery codes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5543" y="3982394"/>
            <a:ext cx="594390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67EEA"/>
                </a:solidFill>
              </a:defRPr>
            </a:pPr>
            <a:r>
              <a:rPr dirty="0"/>
              <a:t>📱 TOTP UX Optimization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rPr lang="en-US" dirty="0"/>
              <a:t>	</a:t>
            </a:r>
            <a:r>
              <a:rPr lang="zh-TW" altLang="en-US" sz="1600" dirty="0"/>
              <a:t>▸ </a:t>
            </a:r>
            <a:r>
              <a:rPr lang="en-US" sz="1600" dirty="0"/>
              <a:t>Generate </a:t>
            </a:r>
            <a:r>
              <a:rPr lang="en-US" sz="1600" b="1" dirty="0"/>
              <a:t>QR Code</a:t>
            </a:r>
            <a:r>
              <a:rPr lang="en-US" sz="1600" dirty="0"/>
              <a:t> to simplify authenticator app configuration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rPr lang="en-US" sz="1600" dirty="0"/>
              <a:t>	</a:t>
            </a:r>
            <a:r>
              <a:rPr lang="zh-TW" altLang="en-US" sz="1600" dirty="0"/>
              <a:t>▸ </a:t>
            </a:r>
            <a:r>
              <a:rPr lang="en-US" altLang="zh-TW" sz="1600" dirty="0"/>
              <a:t>Provide alternative verification methods (SMS, Email)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457199" y="4732723"/>
            <a:ext cx="5629123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67EEA"/>
                </a:solidFill>
              </a:defRPr>
            </a:pPr>
            <a:r>
              <a:rPr dirty="0"/>
              <a:t>🌐 Web Frontend Integration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rPr lang="en-US" dirty="0"/>
              <a:t>	</a:t>
            </a:r>
            <a:r>
              <a:rPr lang="zh-TW" altLang="en-US" sz="1600" dirty="0"/>
              <a:t>▸ </a:t>
            </a:r>
            <a:r>
              <a:rPr lang="en-US" sz="1600" dirty="0">
                <a:solidFill>
                  <a:srgbClr val="555555"/>
                </a:solidFill>
              </a:rPr>
              <a:t>Implement </a:t>
            </a:r>
            <a:r>
              <a:rPr lang="en-US" sz="1600" b="1" dirty="0">
                <a:solidFill>
                  <a:srgbClr val="555555"/>
                </a:solidFill>
              </a:rPr>
              <a:t>input/output encoding </a:t>
            </a:r>
            <a:r>
              <a:rPr lang="en-US" sz="1600" dirty="0">
                <a:solidFill>
                  <a:srgbClr val="555555"/>
                </a:solidFill>
              </a:rPr>
              <a:t>to prevent XSS attacks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rPr lang="en-US" sz="1600" dirty="0"/>
              <a:t>	</a:t>
            </a:r>
            <a:r>
              <a:rPr lang="zh-TW" altLang="en-US" sz="1600" dirty="0"/>
              <a:t>▸ </a:t>
            </a:r>
            <a:r>
              <a:rPr lang="en-US" sz="1600" dirty="0"/>
              <a:t>Add CSRF Token protection mechanism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rPr lang="en-US" sz="1600" dirty="0"/>
              <a:t>	</a:t>
            </a:r>
            <a:r>
              <a:rPr lang="zh-TW" altLang="en-US" sz="1600" dirty="0"/>
              <a:t>▸ </a:t>
            </a:r>
            <a:r>
              <a:rPr lang="en-US" sz="1600" dirty="0"/>
              <a:t>Implement Content Security Policy (CSP) headers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rPr lang="en-US" sz="1600" dirty="0"/>
              <a:t>	</a:t>
            </a:r>
            <a:r>
              <a:rPr lang="zh-TW" altLang="en-US" sz="1600" dirty="0"/>
              <a:t>▸ </a:t>
            </a:r>
            <a:r>
              <a:rPr lang="en-US" sz="1600" dirty="0"/>
              <a:t>Use HTTPS for encrypted transport layer 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5543" y="1801889"/>
            <a:ext cx="683895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67EEA"/>
                </a:solidFill>
              </a:defRPr>
            </a:pPr>
            <a:r>
              <a:rPr dirty="0"/>
              <a:t>🔍 Automated Security Testing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rPr lang="en-US" dirty="0"/>
              <a:t>	</a:t>
            </a:r>
            <a:r>
              <a:rPr lang="zh-TW" altLang="en-US" sz="1600" dirty="0"/>
              <a:t>▸ </a:t>
            </a:r>
            <a:r>
              <a:rPr lang="en-US" sz="1600" dirty="0"/>
              <a:t>Integrate </a:t>
            </a:r>
            <a:r>
              <a:rPr lang="en-US" sz="1600" b="1" dirty="0"/>
              <a:t>static code analysis </a:t>
            </a:r>
            <a:r>
              <a:rPr lang="en-US" sz="1600" dirty="0"/>
              <a:t>tools (Bandit, SonarQube)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rPr lang="en-US" altLang="zh-TW" sz="1600" dirty="0"/>
              <a:t>	</a:t>
            </a:r>
            <a:r>
              <a:rPr lang="zh-TW" altLang="en-US" sz="1600" dirty="0"/>
              <a:t>▸ </a:t>
            </a:r>
            <a:r>
              <a:rPr lang="en-US" sz="1600" dirty="0"/>
              <a:t>Implement </a:t>
            </a:r>
            <a:r>
              <a:rPr lang="en-US" sz="1600" b="1" dirty="0"/>
              <a:t>dependency scanning </a:t>
            </a:r>
            <a:r>
              <a:rPr lang="en-US" sz="1600" dirty="0"/>
              <a:t>for known vulnerabilities (Safety, </a:t>
            </a:r>
            <a:r>
              <a:rPr lang="en-US" sz="1600" dirty="0" err="1"/>
              <a:t>Snyk</a:t>
            </a:r>
            <a:r>
              <a:rPr lang="en-US" sz="1600" dirty="0"/>
              <a:t>)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rPr lang="en-US" altLang="zh-TW" sz="1600" dirty="0"/>
              <a:t>	</a:t>
            </a:r>
            <a:r>
              <a:rPr lang="zh-TW" altLang="en-US" sz="1600" dirty="0"/>
              <a:t>▸ </a:t>
            </a:r>
            <a:r>
              <a:rPr lang="en-US" sz="1600" dirty="0"/>
              <a:t>Build CI/CD pipeline to automatically run security tests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Project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55555"/>
                </a:solidFill>
              </a:defRPr>
            </a:pPr>
            <a:r>
              <a:t>✨ Implementation Achievements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  <a:defRPr sz="1400">
                <a:solidFill>
                  <a:srgbClr val="555555"/>
                </a:solidFill>
              </a:defRPr>
            </a:pPr>
            <a:r>
              <a:rPr dirty="0"/>
              <a:t>▸ Complete secure login and registration system with password hashing and 2FA</a:t>
            </a:r>
          </a:p>
          <a:p>
            <a:pPr lvl="1">
              <a:spcAft>
                <a:spcPts val="800"/>
              </a:spcAft>
              <a:defRPr sz="1400">
                <a:solidFill>
                  <a:srgbClr val="555555"/>
                </a:solidFill>
              </a:defRPr>
            </a:pPr>
            <a:r>
              <a:rPr dirty="0"/>
              <a:t>▸ Multi-layer security protection: SQL injection, XSS, brute force prevention</a:t>
            </a:r>
          </a:p>
          <a:p>
            <a:pPr lvl="1">
              <a:spcAft>
                <a:spcPts val="800"/>
              </a:spcAft>
              <a:defRPr sz="1400">
                <a:solidFill>
                  <a:srgbClr val="555555"/>
                </a:solidFill>
              </a:defRPr>
            </a:pPr>
            <a:r>
              <a:rPr dirty="0"/>
              <a:t>▸ Comprehensive test framework covering functional and security testing</a:t>
            </a:r>
          </a:p>
          <a:p>
            <a:pPr lvl="1">
              <a:spcAft>
                <a:spcPts val="800"/>
              </a:spcAft>
              <a:defRPr sz="1400">
                <a:solidFill>
                  <a:srgbClr val="555555"/>
                </a:solidFill>
              </a:defRPr>
            </a:pPr>
            <a:r>
              <a:rPr dirty="0"/>
              <a:t>▸ GUI implementations (</a:t>
            </a:r>
            <a:r>
              <a:rPr dirty="0" err="1"/>
              <a:t>Tkinter</a:t>
            </a:r>
            <a:r>
              <a:rPr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55555"/>
                </a:solidFill>
              </a:defRPr>
            </a:pPr>
            <a:r>
              <a:t>📚 Key Learnings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09728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  <a:defRPr sz="1400">
                <a:solidFill>
                  <a:srgbClr val="555555"/>
                </a:solidFill>
              </a:defRPr>
            </a:pPr>
            <a:r>
              <a:rPr dirty="0"/>
              <a:t>▸</a:t>
            </a:r>
            <a:r>
              <a:rPr b="1" dirty="0"/>
              <a:t> Secure Coding Practices </a:t>
            </a:r>
            <a:r>
              <a:rPr dirty="0"/>
              <a:t>- Parameterized queries, constant-time comparison, input validation</a:t>
            </a:r>
          </a:p>
          <a:p>
            <a:pPr lvl="1">
              <a:spcAft>
                <a:spcPts val="800"/>
              </a:spcAft>
              <a:defRPr sz="1400">
                <a:solidFill>
                  <a:srgbClr val="555555"/>
                </a:solidFill>
              </a:defRPr>
            </a:pPr>
            <a:r>
              <a:rPr dirty="0"/>
              <a:t>▸</a:t>
            </a:r>
            <a:r>
              <a:rPr b="1" dirty="0"/>
              <a:t> Cryptography Applications </a:t>
            </a:r>
            <a:r>
              <a:rPr dirty="0"/>
              <a:t>- PBKDF2 hashing, salt generation, TOTP implementation</a:t>
            </a:r>
          </a:p>
          <a:p>
            <a:pPr lvl="1">
              <a:spcAft>
                <a:spcPts val="800"/>
              </a:spcAft>
              <a:defRPr sz="1400">
                <a:solidFill>
                  <a:srgbClr val="555555"/>
                </a:solidFill>
              </a:defRPr>
            </a:pPr>
            <a:r>
              <a:rPr dirty="0"/>
              <a:t>▸</a:t>
            </a:r>
            <a:r>
              <a:rPr b="1" dirty="0"/>
              <a:t> Attack Prevention </a:t>
            </a:r>
            <a:r>
              <a:rPr dirty="0"/>
              <a:t>- SQL injection, XSS, timing attack protection mechanisms</a:t>
            </a:r>
          </a:p>
          <a:p>
            <a:pPr lvl="1">
              <a:spcAft>
                <a:spcPts val="800"/>
              </a:spcAft>
              <a:defRPr sz="1400">
                <a:solidFill>
                  <a:srgbClr val="555555"/>
                </a:solidFill>
              </a:defRPr>
            </a:pPr>
            <a:r>
              <a:rPr dirty="0"/>
              <a:t>▸</a:t>
            </a:r>
            <a:r>
              <a:rPr b="1" dirty="0"/>
              <a:t> Test-Driven Development </a:t>
            </a:r>
            <a:r>
              <a:rPr dirty="0"/>
              <a:t>- Unit testing, integration testing, security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55555"/>
                </a:solidFill>
              </a:defRPr>
            </a:pPr>
            <a:r>
              <a:t>🚀 Future Development Directions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0972800" cy="94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  <a:defRPr sz="1400">
                <a:solidFill>
                  <a:srgbClr val="555555"/>
                </a:solidFill>
              </a:defRPr>
            </a:pPr>
            <a:r>
              <a:rPr dirty="0"/>
              <a:t>▸ Expand to web application with RESTful API implementation</a:t>
            </a:r>
          </a:p>
          <a:p>
            <a:pPr lvl="1">
              <a:spcAft>
                <a:spcPts val="800"/>
              </a:spcAft>
              <a:defRPr sz="1400">
                <a:solidFill>
                  <a:srgbClr val="555555"/>
                </a:solidFill>
              </a:defRPr>
            </a:pPr>
            <a:r>
              <a:rPr dirty="0"/>
              <a:t>▸ Add OAuth 2.0 / OpenID Connect support</a:t>
            </a:r>
          </a:p>
          <a:p>
            <a:pPr lvl="1">
              <a:spcAft>
                <a:spcPts val="800"/>
              </a:spcAft>
              <a:defRPr sz="1400">
                <a:solidFill>
                  <a:srgbClr val="555555"/>
                </a:solidFill>
              </a:defRPr>
            </a:pPr>
            <a:r>
              <a:rPr dirty="0"/>
              <a:t>▸ Implement Session management and JWT Token mechanism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0807" y="2921168"/>
            <a:ext cx="511007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lang="en-US" altLang="zh-TW" sz="4400" dirty="0"/>
              <a:t>Thank You !</a:t>
            </a:r>
            <a:r>
              <a:rPr lang="zh-TW" altLang="en-US" sz="4400" dirty="0"/>
              <a:t>🎉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1895577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739</Words>
  <Application>Microsoft Office PowerPoint</Application>
  <PresentationFormat>寬螢幕</PresentationFormat>
  <Paragraphs>124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KANG</cp:lastModifiedBy>
  <cp:revision>36</cp:revision>
  <dcterms:created xsi:type="dcterms:W3CDTF">2013-01-27T09:14:16Z</dcterms:created>
  <dcterms:modified xsi:type="dcterms:W3CDTF">2025-11-27T00:24:34Z</dcterms:modified>
  <cp:category/>
</cp:coreProperties>
</file>